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CC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>
        <p:scale>
          <a:sx n="100" d="100"/>
          <a:sy n="100" d="100"/>
        </p:scale>
        <p:origin x="84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B7AA7-E360-421D-B026-008310E2521D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107A54-1CE5-41C3-8783-9744ACC9A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226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err="1"/>
              <a:t>Lightsail에서는</a:t>
            </a:r>
            <a:r>
              <a:rPr lang="ko-KR" altLang="en-US" sz="800" dirty="0"/>
              <a:t> </a:t>
            </a:r>
            <a:r>
              <a:rPr lang="ko-KR" altLang="en-US" sz="800" dirty="0" err="1"/>
              <a:t>Redis를</a:t>
            </a:r>
            <a:r>
              <a:rPr lang="ko-KR" altLang="en-US" sz="800" dirty="0"/>
              <a:t> </a:t>
            </a:r>
            <a:r>
              <a:rPr lang="ko-KR" altLang="en-US" sz="800" dirty="0" err="1"/>
              <a:t>host.docker.internal</a:t>
            </a:r>
            <a:r>
              <a:rPr lang="ko-KR" altLang="en-US" sz="800" dirty="0"/>
              <a:t> 또는 사설 </a:t>
            </a:r>
            <a:r>
              <a:rPr lang="ko-KR" altLang="en-US" sz="800" dirty="0" err="1"/>
              <a:t>IP로</a:t>
            </a:r>
            <a:r>
              <a:rPr lang="ko-KR" altLang="en-US" sz="800" dirty="0"/>
              <a:t>, </a:t>
            </a:r>
            <a:r>
              <a:rPr lang="ko-KR" altLang="en-US" sz="800" dirty="0" err="1"/>
              <a:t>Celery</a:t>
            </a:r>
            <a:r>
              <a:rPr lang="ko-KR" altLang="en-US" sz="800" dirty="0"/>
              <a:t> 서버에서는 18.215.206.244(공인 IP) 로 접속한다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07A54-1CE5-41C3-8783-9744ACC9AD5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425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F9C543-2434-6F52-F315-CF4325523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31156FB-7128-C6BE-FC2E-62C43D6CC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FE3232-42BF-4152-46BD-A887A1E83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C62AF-F61D-488D-8AA4-12F63EED7FB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82C0C3-8220-11D1-2438-058498BB2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67D03F-1D4C-81E2-10B6-043E3AA89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A5B0B-66DC-4279-9F57-C47ED2A23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667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33F372-EBDB-BD6B-86F4-B50998AC3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70E73A-3230-5F87-0354-E11B7BD5F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95A32C-5F28-B3DC-D083-51B36987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C62AF-F61D-488D-8AA4-12F63EED7FB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392F12-29A3-2D29-A4AB-35385AD1D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2172CC-B23D-499E-431C-DDFD586D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A5B0B-66DC-4279-9F57-C47ED2A23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491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F33CC7-6BFA-7F2E-59AF-47AC579D6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2AD1FB-6BEA-4AB8-FE39-9753BF0C4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4D849C-E956-9E62-5444-EBB7F3FAD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C62AF-F61D-488D-8AA4-12F63EED7FB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10AC1D-5AC7-00AB-3C34-F1880464B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D4054A-D5BC-9A20-3CA6-40FCE974F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A5B0B-66DC-4279-9F57-C47ED2A23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265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A84BC-F62C-1C3E-85FC-5E16BF6F5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83C763-22C2-E2BF-6F90-F20BDA4966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4F6055-DAD0-069F-B73F-4AC4FB02C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A290E4-7AFE-1A0D-FAAE-3A830F33F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C62AF-F61D-488D-8AA4-12F63EED7FB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007C64-3502-A08D-74C5-42C0BF9E9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64477F-AE1A-BA14-4C1C-AD72AE72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A5B0B-66DC-4279-9F57-C47ED2A23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122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CD7F15-2F0B-6966-E3F8-71899F150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128E0D-1FF5-DEEE-DCD7-B032F6719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B22059-008E-D9C5-455E-250B0961E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D356C4-D510-7640-9C3A-3BDE3DE3AB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C96EDF3-A912-3F74-2248-94EB9C4AA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7746417-659D-179F-12FC-DF27D208F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C62AF-F61D-488D-8AA4-12F63EED7FB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D01B8E8-ABA8-A6A2-BBE1-C90E73E31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C006941-2A0D-6D7F-5D57-1353BA8FB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A5B0B-66DC-4279-9F57-C47ED2A23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591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C89231-867E-F064-EAB0-86586A017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1850DA-4F50-25AE-71D6-69ECFE443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C62AF-F61D-488D-8AA4-12F63EED7FB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A2030E0-B44F-D7DD-4469-F07F2C19B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556831-10D9-1529-BC0E-C6FB4E65C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A5B0B-66DC-4279-9F57-C47ED2A23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467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B099693-4358-AF6D-F07E-BB4BDB586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C62AF-F61D-488D-8AA4-12F63EED7FB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7116327-56BC-BAE9-85E4-6B2D0AF18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FEEF77-AB08-2112-FC30-9778C6673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A5B0B-66DC-4279-9F57-C47ED2A23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919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AFDB2A-22B2-0F48-8939-F15AABA5B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BD047-3CD0-C8E5-6062-8045D91B2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2BF4AE-67BF-317D-2508-5ECE1A784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018998-14D4-2B56-54CD-D303F9B75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C62AF-F61D-488D-8AA4-12F63EED7FB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318DCC-3505-9F00-A99F-D28999FB9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41851E-B912-63D3-3121-95F1995D0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A5B0B-66DC-4279-9F57-C47ED2A23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857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23E6D4-2271-863F-0FC6-2F723DF10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833991-AC72-B567-0010-9520EE78DC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777F00-C4AF-248C-9D00-D0C760A9E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8B96F4-1554-BD97-F97C-A35E5B231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C62AF-F61D-488D-8AA4-12F63EED7FB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3048F0-7ABE-90DC-A4AC-15B644860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E0D7C6-2D4B-193E-955A-1A0A3CF9F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A5B0B-66DC-4279-9F57-C47ED2A23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516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0077A5-DA86-0856-1C5F-A25054A6E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5707C5-B5A2-BB07-87B4-6CD80EC39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2ADFF5-F2DB-2C5F-F98B-DEF1A0384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C62AF-F61D-488D-8AA4-12F63EED7FB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C30685-81E7-E478-648D-7F7AE211A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DA14C1-1F3C-BDAE-ECAE-481DC7A3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A5B0B-66DC-4279-9F57-C47ED2A23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581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C15E50C-19C4-835B-1AC0-D73F021392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F4046A-FB5E-0860-C6F1-25FED0CE8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FCEF36-9954-C547-D1F5-85CE0DE53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C62AF-F61D-488D-8AA4-12F63EED7FB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4517E7-8DF4-1C27-6463-B53E1F1A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51EB64-8369-FE11-610A-9CC55239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A5B0B-66DC-4279-9F57-C47ED2A23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903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B0A264-C92D-7137-B964-F98D6B65D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6E9FD7-F724-AE71-4B3B-8D05129B4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B18B86-7FA4-FE93-8949-B638E0CB7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C62AF-F61D-488D-8AA4-12F63EED7FB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63270C-8388-0897-2728-7AF382ED6E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FC65B2-BAAB-AC8F-ECFB-9C49B1CC5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A5B0B-66DC-4279-9F57-C47ED2A23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777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sv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5DAF024D-C91E-A092-EFF5-5AA218D0A9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4136" y="1084056"/>
            <a:ext cx="775839" cy="775839"/>
          </a:xfrm>
          <a:prstGeom prst="rect">
            <a:avLst/>
          </a:prstGeom>
        </p:spPr>
      </p:pic>
      <p:pic>
        <p:nvPicPr>
          <p:cNvPr id="9" name="그래픽 8">
            <a:extLst>
              <a:ext uri="{FF2B5EF4-FFF2-40B4-BE49-F238E27FC236}">
                <a16:creationId xmlns:a16="http://schemas.microsoft.com/office/drawing/2014/main" id="{CB8BF7AE-8D60-C61C-9B6E-79F728E32C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4605" y="1084053"/>
            <a:ext cx="775840" cy="77584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D001A6C-FB4B-3409-EDC7-1661447956C3}"/>
              </a:ext>
            </a:extLst>
          </p:cNvPr>
          <p:cNvSpPr/>
          <p:nvPr/>
        </p:nvSpPr>
        <p:spPr>
          <a:xfrm>
            <a:off x="4119490" y="781692"/>
            <a:ext cx="4298838" cy="2871327"/>
          </a:xfrm>
          <a:prstGeom prst="roundRect">
            <a:avLst>
              <a:gd name="adj" fmla="val 6995"/>
            </a:avLst>
          </a:prstGeom>
          <a:solidFill>
            <a:schemeClr val="bg1">
              <a:lumMod val="95000"/>
              <a:alpha val="57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32978D-4C30-11E9-1CD4-FE21EDF04392}"/>
              </a:ext>
            </a:extLst>
          </p:cNvPr>
          <p:cNvSpPr txBox="1"/>
          <p:nvPr/>
        </p:nvSpPr>
        <p:spPr>
          <a:xfrm>
            <a:off x="4137437" y="92550"/>
            <a:ext cx="2480869" cy="6309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AWS Lightsail server</a:t>
            </a:r>
          </a:p>
          <a:p>
            <a:r>
              <a:rPr lang="en-US" altLang="ko-KR" sz="1050" dirty="0"/>
              <a:t>- 2GBRAM, 2 vCPU, 60GB SSD </a:t>
            </a:r>
          </a:p>
          <a:p>
            <a:r>
              <a:rPr lang="en-US" altLang="ko-KR" sz="1050" dirty="0"/>
              <a:t>- </a:t>
            </a:r>
            <a:r>
              <a:rPr lang="ko-KR" altLang="en-US" sz="1050" dirty="0"/>
              <a:t>버지니아</a:t>
            </a:r>
            <a:r>
              <a:rPr lang="en-US" altLang="ko-KR" sz="1050" dirty="0"/>
              <a:t>, </a:t>
            </a:r>
            <a:r>
              <a:rPr lang="ko-KR" altLang="en-US" sz="1050" dirty="0"/>
              <a:t>영역 </a:t>
            </a:r>
            <a:r>
              <a:rPr lang="en-US" altLang="ko-KR" sz="1050" dirty="0"/>
              <a:t>A (us-east-1a)</a:t>
            </a:r>
            <a:endParaRPr lang="ko-KR" altLang="en-US" sz="14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E3B5A91-098C-363D-0519-3406A798F19C}"/>
              </a:ext>
            </a:extLst>
          </p:cNvPr>
          <p:cNvGrpSpPr/>
          <p:nvPr/>
        </p:nvGrpSpPr>
        <p:grpSpPr>
          <a:xfrm>
            <a:off x="5665968" y="2453426"/>
            <a:ext cx="2422710" cy="1067128"/>
            <a:chOff x="2774933" y="2291459"/>
            <a:chExt cx="2422710" cy="1067128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CCB86DC5-42F1-E32F-C4FB-4AC1144C107A}"/>
                </a:ext>
              </a:extLst>
            </p:cNvPr>
            <p:cNvSpPr/>
            <p:nvPr/>
          </p:nvSpPr>
          <p:spPr>
            <a:xfrm>
              <a:off x="2774933" y="2291459"/>
              <a:ext cx="2422710" cy="1067128"/>
            </a:xfrm>
            <a:prstGeom prst="roundRect">
              <a:avLst>
                <a:gd name="adj" fmla="val 6995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" name="그래픽 18">
              <a:extLst>
                <a:ext uri="{FF2B5EF4-FFF2-40B4-BE49-F238E27FC236}">
                  <a16:creationId xmlns:a16="http://schemas.microsoft.com/office/drawing/2014/main" id="{6146B3BB-5CFC-CFB7-33C1-6D689818CA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185864" y="2577709"/>
              <a:ext cx="1448552" cy="494627"/>
            </a:xfrm>
            <a:prstGeom prst="rect">
              <a:avLst/>
            </a:prstGeom>
          </p:spPr>
        </p:pic>
      </p:grp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F05AF86-713A-D54E-A0B7-F8845D02F351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6877323" y="1981286"/>
            <a:ext cx="0" cy="47214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7" name="그림 26">
            <a:extLst>
              <a:ext uri="{FF2B5EF4-FFF2-40B4-BE49-F238E27FC236}">
                <a16:creationId xmlns:a16="http://schemas.microsoft.com/office/drawing/2014/main" id="{D1834B6A-99D1-828B-DCDA-5F41FB8C175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8525" y="1889160"/>
            <a:ext cx="1691196" cy="548033"/>
          </a:xfrm>
          <a:prstGeom prst="rect">
            <a:avLst/>
          </a:prstGeom>
        </p:spPr>
      </p:pic>
      <p:pic>
        <p:nvPicPr>
          <p:cNvPr id="29" name="그래픽 28">
            <a:extLst>
              <a:ext uri="{FF2B5EF4-FFF2-40B4-BE49-F238E27FC236}">
                <a16:creationId xmlns:a16="http://schemas.microsoft.com/office/drawing/2014/main" id="{FF4DC7CB-A1FC-9E72-0613-06AF57C462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41144" y="858994"/>
            <a:ext cx="1225959" cy="1225959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B52F0442-49C8-4368-5A4F-5C4D76997A7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261" y="1224661"/>
            <a:ext cx="634137" cy="494627"/>
          </a:xfrm>
          <a:prstGeom prst="rect">
            <a:avLst/>
          </a:prstGeom>
        </p:spPr>
      </p:pic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49FF8B9C-97B9-812A-E0FC-CA868D01AD04}"/>
              </a:ext>
            </a:extLst>
          </p:cNvPr>
          <p:cNvCxnSpPr>
            <a:cxnSpLocks/>
            <a:stCxn id="7" idx="3"/>
            <a:endCxn id="37" idx="1"/>
          </p:cNvCxnSpPr>
          <p:nvPr/>
        </p:nvCxnSpPr>
        <p:spPr>
          <a:xfrm flipV="1">
            <a:off x="2529975" y="1471975"/>
            <a:ext cx="1672286" cy="1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2173B910-1D69-02D4-85AC-E65D9F6A2560}"/>
              </a:ext>
            </a:extLst>
          </p:cNvPr>
          <p:cNvCxnSpPr>
            <a:cxnSpLocks/>
            <a:stCxn id="37" idx="3"/>
            <a:endCxn id="16" idx="1"/>
          </p:cNvCxnSpPr>
          <p:nvPr/>
        </p:nvCxnSpPr>
        <p:spPr>
          <a:xfrm>
            <a:off x="4836398" y="1471975"/>
            <a:ext cx="829570" cy="920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6FAEAFF-2F3E-8890-EB90-A41826CC5214}"/>
              </a:ext>
            </a:extLst>
          </p:cNvPr>
          <p:cNvSpPr txBox="1"/>
          <p:nvPr/>
        </p:nvSpPr>
        <p:spPr>
          <a:xfrm>
            <a:off x="2794675" y="1495381"/>
            <a:ext cx="12201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Port: 443(https)</a:t>
            </a:r>
            <a:endParaRPr kumimoji="0" lang="en-US" altLang="ko-KR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4" name="그래픽 53">
            <a:extLst>
              <a:ext uri="{FF2B5EF4-FFF2-40B4-BE49-F238E27FC236}">
                <a16:creationId xmlns:a16="http://schemas.microsoft.com/office/drawing/2014/main" id="{30090715-EABD-1A6C-9E0B-28B00BE8FFD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00015" y="971249"/>
            <a:ext cx="1232909" cy="409326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F558ECC1-AB27-7DAD-5C38-696A7A4C4BCD}"/>
              </a:ext>
            </a:extLst>
          </p:cNvPr>
          <p:cNvSpPr txBox="1"/>
          <p:nvPr/>
        </p:nvSpPr>
        <p:spPr>
          <a:xfrm>
            <a:off x="5649793" y="2475234"/>
            <a:ext cx="10898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Port: 6379 </a:t>
            </a:r>
            <a:endParaRPr kumimoji="0" lang="en-US" altLang="ko-KR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AD3EEE21-3705-96D2-B51E-A8D605CA1B64}"/>
              </a:ext>
            </a:extLst>
          </p:cNvPr>
          <p:cNvCxnSpPr>
            <a:cxnSpLocks/>
            <a:stCxn id="16" idx="3"/>
            <a:endCxn id="29" idx="1"/>
          </p:cNvCxnSpPr>
          <p:nvPr/>
        </p:nvCxnSpPr>
        <p:spPr>
          <a:xfrm flipV="1">
            <a:off x="8088678" y="1471974"/>
            <a:ext cx="1452466" cy="921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8BC66DC6-920C-6CB9-59E4-8D3DD35A8C2C}"/>
              </a:ext>
            </a:extLst>
          </p:cNvPr>
          <p:cNvSpPr/>
          <p:nvPr/>
        </p:nvSpPr>
        <p:spPr>
          <a:xfrm>
            <a:off x="4202261" y="4941517"/>
            <a:ext cx="4298838" cy="1772635"/>
          </a:xfrm>
          <a:prstGeom prst="roundRect">
            <a:avLst>
              <a:gd name="adj" fmla="val 6995"/>
            </a:avLst>
          </a:prstGeom>
          <a:solidFill>
            <a:schemeClr val="bg1">
              <a:lumMod val="95000"/>
              <a:alpha val="57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7F731E7-C068-61E2-0C7C-2B1764A047EE}"/>
              </a:ext>
            </a:extLst>
          </p:cNvPr>
          <p:cNvSpPr txBox="1"/>
          <p:nvPr/>
        </p:nvSpPr>
        <p:spPr>
          <a:xfrm>
            <a:off x="4202261" y="4203820"/>
            <a:ext cx="2416046" cy="6309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GPU server(Celery Server)</a:t>
            </a:r>
          </a:p>
          <a:p>
            <a:pPr marL="171450" indent="-171450">
              <a:buFontTx/>
              <a:buChar char="-"/>
            </a:pPr>
            <a:r>
              <a:rPr lang="en-US" altLang="ko-KR" sz="1050" dirty="0"/>
              <a:t>Workstation or</a:t>
            </a:r>
            <a:r>
              <a:rPr lang="ko-KR" altLang="en-US" sz="1050" dirty="0"/>
              <a:t> </a:t>
            </a:r>
            <a:r>
              <a:rPr lang="en-US" altLang="ko-KR" sz="1050" dirty="0"/>
              <a:t>RunPods</a:t>
            </a:r>
          </a:p>
          <a:p>
            <a:pPr marL="171450" indent="-171450">
              <a:buFontTx/>
              <a:buChar char="-"/>
            </a:pPr>
            <a:r>
              <a:rPr lang="en-US" altLang="ko-KR" sz="1050" dirty="0"/>
              <a:t>Nvidia GPU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CD9B8B2-9696-5396-2E9E-7BCD9FA214D2}"/>
              </a:ext>
            </a:extLst>
          </p:cNvPr>
          <p:cNvSpPr txBox="1"/>
          <p:nvPr/>
        </p:nvSpPr>
        <p:spPr>
          <a:xfrm>
            <a:off x="1312799" y="4203819"/>
            <a:ext cx="2626986" cy="6309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AWS S3</a:t>
            </a:r>
          </a:p>
          <a:p>
            <a:pPr marL="171450" indent="-171450">
              <a:buFontTx/>
              <a:buChar char="-"/>
            </a:pPr>
            <a:r>
              <a:rPr lang="ko-KR" altLang="en-US" sz="1050" dirty="0"/>
              <a:t>미국 동부</a:t>
            </a:r>
            <a:r>
              <a:rPr lang="en-US" altLang="ko-KR" sz="1050" dirty="0"/>
              <a:t>(</a:t>
            </a:r>
            <a:r>
              <a:rPr lang="ko-KR" altLang="en-US" sz="1050" dirty="0"/>
              <a:t>버지니아 북부</a:t>
            </a:r>
            <a:r>
              <a:rPr lang="en-US" altLang="ko-KR" sz="1050" dirty="0"/>
              <a:t>) us-east-1</a:t>
            </a:r>
          </a:p>
          <a:p>
            <a:pPr marL="171450" indent="-171450">
              <a:buFontTx/>
              <a:buChar char="-"/>
            </a:pPr>
            <a:r>
              <a:rPr lang="en-US" altLang="ko-KR" sz="1050" dirty="0"/>
              <a:t>volumx-storage-</a:t>
            </a:r>
            <a:r>
              <a:rPr lang="en-US" altLang="ko-KR" sz="1050" dirty="0" err="1"/>
              <a:t>prd</a:t>
            </a:r>
            <a:r>
              <a:rPr lang="en-US" altLang="ko-KR" sz="1050" dirty="0"/>
              <a:t>  </a:t>
            </a:r>
            <a:endParaRPr lang="ko-KR" altLang="en-US" sz="1400" dirty="0"/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77D7D029-0A9A-3F1C-4747-27F060DD22D1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135144" y="1859895"/>
            <a:ext cx="6912" cy="2195342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C303D6DC-8979-0187-D746-CE2F4E16A37E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6877323" y="3520554"/>
            <a:ext cx="0" cy="1313181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593DF913-59A3-0758-F861-785C4B24445A}"/>
              </a:ext>
            </a:extLst>
          </p:cNvPr>
          <p:cNvCxnSpPr>
            <a:cxnSpLocks/>
          </p:cNvCxnSpPr>
          <p:nvPr/>
        </p:nvCxnSpPr>
        <p:spPr>
          <a:xfrm>
            <a:off x="2626292" y="5692524"/>
            <a:ext cx="1575969" cy="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7E3EA617-DF32-F394-B269-6C1547ACFE59}"/>
              </a:ext>
            </a:extLst>
          </p:cNvPr>
          <p:cNvSpPr txBox="1"/>
          <p:nvPr/>
        </p:nvSpPr>
        <p:spPr>
          <a:xfrm>
            <a:off x="5605543" y="5614643"/>
            <a:ext cx="2719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Convert (2d -&gt; 3D VR)</a:t>
            </a:r>
            <a:br>
              <a:rPr lang="en-US" altLang="ko-KR" sz="1200" b="1" dirty="0"/>
            </a:br>
            <a:r>
              <a:rPr lang="en-US" altLang="ko-KR" sz="1200" dirty="0"/>
              <a:t> - </a:t>
            </a:r>
            <a:r>
              <a:rPr lang="en-US" altLang="ko-KR" sz="1200" dirty="0" err="1"/>
              <a:t>pytorch</a:t>
            </a:r>
            <a:r>
              <a:rPr lang="en-US" altLang="ko-KR" sz="1200" dirty="0"/>
              <a:t> &gt; 12.8 </a:t>
            </a:r>
          </a:p>
          <a:p>
            <a:r>
              <a:rPr lang="en-US" altLang="ko-KR" sz="1200" dirty="0"/>
              <a:t> - convert</a:t>
            </a:r>
            <a:r>
              <a:rPr lang="ko-KR" altLang="en-US" sz="1200" dirty="0"/>
              <a:t> </a:t>
            </a:r>
            <a:r>
              <a:rPr lang="en-US" altLang="ko-KR" sz="1200" dirty="0"/>
              <a:t>tool: </a:t>
            </a:r>
            <a:r>
              <a:rPr lang="en-US" altLang="ko-KR" sz="1200" dirty="0" err="1"/>
              <a:t>nunif</a:t>
            </a:r>
            <a:r>
              <a:rPr lang="en-US" altLang="ko-KR" sz="1200" dirty="0"/>
              <a:t>/iw3</a:t>
            </a:r>
            <a:endParaRPr lang="ko-KR" altLang="en-US" sz="1200" dirty="0"/>
          </a:p>
        </p:txBody>
      </p:sp>
      <p:pic>
        <p:nvPicPr>
          <p:cNvPr id="97" name="그래픽 96">
            <a:extLst>
              <a:ext uri="{FF2B5EF4-FFF2-40B4-BE49-F238E27FC236}">
                <a16:creationId xmlns:a16="http://schemas.microsoft.com/office/drawing/2014/main" id="{13363C07-7F68-C00F-9832-9069F4501EE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55543" y="5596938"/>
            <a:ext cx="668154" cy="668154"/>
          </a:xfrm>
          <a:prstGeom prst="rect">
            <a:avLst/>
          </a:prstGeom>
        </p:spPr>
      </p:pic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BF90F575-3949-85E8-2317-12D323532BD8}"/>
              </a:ext>
            </a:extLst>
          </p:cNvPr>
          <p:cNvCxnSpPr>
            <a:cxnSpLocks/>
          </p:cNvCxnSpPr>
          <p:nvPr/>
        </p:nvCxnSpPr>
        <p:spPr>
          <a:xfrm flipH="1">
            <a:off x="2158230" y="1927641"/>
            <a:ext cx="3507738" cy="1088784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4C221034-CC04-6E2E-6CB3-0C788F88304F}"/>
              </a:ext>
            </a:extLst>
          </p:cNvPr>
          <p:cNvSpPr txBox="1"/>
          <p:nvPr/>
        </p:nvSpPr>
        <p:spPr>
          <a:xfrm rot="20509174">
            <a:off x="2687189" y="2475234"/>
            <a:ext cx="1204981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i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Presigned URL</a:t>
            </a:r>
            <a:endParaRPr kumimoji="0" lang="en-US" altLang="ko-KR" sz="110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4" name="그림 113">
            <a:extLst>
              <a:ext uri="{FF2B5EF4-FFF2-40B4-BE49-F238E27FC236}">
                <a16:creationId xmlns:a16="http://schemas.microsoft.com/office/drawing/2014/main" id="{80A6BAE1-9E3A-35A9-38F5-7D6C647F62D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199" y="5827834"/>
            <a:ext cx="1053472" cy="1053472"/>
          </a:xfrm>
          <a:prstGeom prst="rect">
            <a:avLst/>
          </a:prstGeom>
        </p:spPr>
      </p:pic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E91D7E04-C667-27D1-0E0D-C612F29638C5}"/>
              </a:ext>
            </a:extLst>
          </p:cNvPr>
          <p:cNvCxnSpPr>
            <a:cxnSpLocks/>
          </p:cNvCxnSpPr>
          <p:nvPr/>
        </p:nvCxnSpPr>
        <p:spPr>
          <a:xfrm flipH="1">
            <a:off x="2614970" y="5882503"/>
            <a:ext cx="1575969" cy="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87AB6262-6CF2-4832-2560-ED4875F57F33}"/>
              </a:ext>
            </a:extLst>
          </p:cNvPr>
          <p:cNvSpPr txBox="1"/>
          <p:nvPr/>
        </p:nvSpPr>
        <p:spPr>
          <a:xfrm>
            <a:off x="2833095" y="5371440"/>
            <a:ext cx="13230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① </a:t>
            </a:r>
            <a:r>
              <a:rPr lang="en-US" altLang="ko-KR" sz="1200" dirty="0"/>
              <a:t>Download</a:t>
            </a:r>
            <a:endParaRPr lang="ko-KR" altLang="en-US" sz="12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1231DA8-6CFE-C0AC-8CCF-2AB03C961E0F}"/>
              </a:ext>
            </a:extLst>
          </p:cNvPr>
          <p:cNvSpPr txBox="1"/>
          <p:nvPr/>
        </p:nvSpPr>
        <p:spPr>
          <a:xfrm>
            <a:off x="2833095" y="5883655"/>
            <a:ext cx="13230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② </a:t>
            </a:r>
            <a:r>
              <a:rPr lang="en-US" altLang="ko-KR" sz="1200" dirty="0"/>
              <a:t>Upload</a:t>
            </a:r>
            <a:endParaRPr lang="ko-KR" altLang="en-US" sz="1200" dirty="0"/>
          </a:p>
        </p:txBody>
      </p:sp>
      <p:pic>
        <p:nvPicPr>
          <p:cNvPr id="122" name="그림 121">
            <a:extLst>
              <a:ext uri="{FF2B5EF4-FFF2-40B4-BE49-F238E27FC236}">
                <a16:creationId xmlns:a16="http://schemas.microsoft.com/office/drawing/2014/main" id="{BA8A076D-5481-6F22-5FE5-A653C01DFA7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933" y="4776804"/>
            <a:ext cx="1558199" cy="794362"/>
          </a:xfrm>
          <a:prstGeom prst="rect">
            <a:avLst/>
          </a:prstGeom>
        </p:spPr>
      </p:pic>
      <p:cxnSp>
        <p:nvCxnSpPr>
          <p:cNvPr id="124" name="연결선: 꺾임 123">
            <a:extLst>
              <a:ext uri="{FF2B5EF4-FFF2-40B4-BE49-F238E27FC236}">
                <a16:creationId xmlns:a16="http://schemas.microsoft.com/office/drawing/2014/main" id="{EF7CEBC0-FB05-64DA-4D9A-EAD140534554}"/>
              </a:ext>
            </a:extLst>
          </p:cNvPr>
          <p:cNvCxnSpPr>
            <a:cxnSpLocks/>
            <a:stCxn id="65" idx="3"/>
            <a:endCxn id="27" idx="2"/>
          </p:cNvCxnSpPr>
          <p:nvPr/>
        </p:nvCxnSpPr>
        <p:spPr>
          <a:xfrm flipV="1">
            <a:off x="8501099" y="2437193"/>
            <a:ext cx="1653024" cy="3390642"/>
          </a:xfrm>
          <a:prstGeom prst="bentConnector2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D704D13A-8E4E-314A-FF5A-C79A9074B302}"/>
              </a:ext>
            </a:extLst>
          </p:cNvPr>
          <p:cNvSpPr txBox="1"/>
          <p:nvPr/>
        </p:nvSpPr>
        <p:spPr>
          <a:xfrm>
            <a:off x="10154123" y="4084109"/>
            <a:ext cx="13230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Check &amp; Renew</a:t>
            </a:r>
            <a:endParaRPr lang="ko-KR" altLang="en-US" sz="12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09B4C8E-B9E4-3512-593C-8595E4FB83F3}"/>
              </a:ext>
            </a:extLst>
          </p:cNvPr>
          <p:cNvSpPr txBox="1"/>
          <p:nvPr/>
        </p:nvSpPr>
        <p:spPr>
          <a:xfrm>
            <a:off x="1113114" y="2654181"/>
            <a:ext cx="13230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Upload &amp; Download</a:t>
            </a:r>
            <a:endParaRPr lang="ko-KR" altLang="en-US" sz="12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3D86BE3-7914-694B-5A50-86A18514895C}"/>
              </a:ext>
            </a:extLst>
          </p:cNvPr>
          <p:cNvSpPr txBox="1"/>
          <p:nvPr/>
        </p:nvSpPr>
        <p:spPr>
          <a:xfrm>
            <a:off x="6351680" y="3214591"/>
            <a:ext cx="10898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Celery Broker</a:t>
            </a:r>
            <a:endParaRPr kumimoji="0" lang="en-US" altLang="ko-KR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5" name="그림 134">
            <a:extLst>
              <a:ext uri="{FF2B5EF4-FFF2-40B4-BE49-F238E27FC236}">
                <a16:creationId xmlns:a16="http://schemas.microsoft.com/office/drawing/2014/main" id="{DBE7EB57-E2E4-276D-1863-2CCED5FE5F3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96530" y="4894039"/>
            <a:ext cx="1094369" cy="1759809"/>
          </a:xfrm>
          <a:prstGeom prst="rect">
            <a:avLst/>
          </a:prstGeom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10AD823B-D181-16BF-1611-2F4BCF38BD76}"/>
              </a:ext>
            </a:extLst>
          </p:cNvPr>
          <p:cNvSpPr txBox="1"/>
          <p:nvPr/>
        </p:nvSpPr>
        <p:spPr>
          <a:xfrm>
            <a:off x="1133274" y="92550"/>
            <a:ext cx="2626986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USER</a:t>
            </a:r>
          </a:p>
          <a:p>
            <a:endParaRPr lang="en-US" altLang="ko-KR" sz="1400" b="1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BB851F6-6074-485F-6DE3-84654C42E5C3}"/>
              </a:ext>
            </a:extLst>
          </p:cNvPr>
          <p:cNvSpPr txBox="1"/>
          <p:nvPr/>
        </p:nvSpPr>
        <p:spPr>
          <a:xfrm>
            <a:off x="6893816" y="2059351"/>
            <a:ext cx="10898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dirty="0">
                <a:solidFill>
                  <a:prstClr val="black"/>
                </a:solidFill>
              </a:rPr>
              <a:t>Enqueue</a:t>
            </a:r>
            <a:endParaRPr kumimoji="0" lang="en-US" altLang="ko-KR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6F9027D-7230-A95B-BAC2-E2C4F67E3E55}"/>
              </a:ext>
            </a:extLst>
          </p:cNvPr>
          <p:cNvSpPr txBox="1"/>
          <p:nvPr/>
        </p:nvSpPr>
        <p:spPr>
          <a:xfrm>
            <a:off x="6877323" y="4046339"/>
            <a:ext cx="10898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dirty="0">
                <a:solidFill>
                  <a:prstClr val="black"/>
                </a:solidFill>
              </a:rPr>
              <a:t>Dequeue</a:t>
            </a:r>
            <a:endParaRPr kumimoji="0" lang="en-US" altLang="ko-KR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40" name="그래픽 139">
            <a:extLst>
              <a:ext uri="{FF2B5EF4-FFF2-40B4-BE49-F238E27FC236}">
                <a16:creationId xmlns:a16="http://schemas.microsoft.com/office/drawing/2014/main" id="{EAB4D6A8-4DB5-C48E-29FF-F543C30014C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441507" y="5023401"/>
            <a:ext cx="976820" cy="252019"/>
          </a:xfrm>
          <a:prstGeom prst="rect">
            <a:avLst/>
          </a:prstGeom>
        </p:spPr>
      </p:pic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F25F5055-D6DE-1F39-37E6-35237030F24B}"/>
              </a:ext>
            </a:extLst>
          </p:cNvPr>
          <p:cNvGrpSpPr/>
          <p:nvPr/>
        </p:nvGrpSpPr>
        <p:grpSpPr>
          <a:xfrm>
            <a:off x="5656057" y="964504"/>
            <a:ext cx="2432621" cy="1016782"/>
            <a:chOff x="5656057" y="964504"/>
            <a:chExt cx="2432621" cy="1016782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966A7173-0E10-73EF-0018-01A02C264D6D}"/>
                </a:ext>
              </a:extLst>
            </p:cNvPr>
            <p:cNvGrpSpPr/>
            <p:nvPr/>
          </p:nvGrpSpPr>
          <p:grpSpPr>
            <a:xfrm>
              <a:off x="5665968" y="964504"/>
              <a:ext cx="2422710" cy="1016782"/>
              <a:chOff x="2774933" y="1028700"/>
              <a:chExt cx="2422710" cy="1016782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CCC3845B-895B-1A99-6A7C-7A81BB574E26}"/>
                  </a:ext>
                </a:extLst>
              </p:cNvPr>
              <p:cNvSpPr/>
              <p:nvPr/>
            </p:nvSpPr>
            <p:spPr>
              <a:xfrm>
                <a:off x="2774933" y="1028700"/>
                <a:ext cx="2422710" cy="1016782"/>
              </a:xfrm>
              <a:prstGeom prst="roundRect">
                <a:avLst>
                  <a:gd name="adj" fmla="val 6995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5" name="그래픽 14">
                <a:extLst>
                  <a:ext uri="{FF2B5EF4-FFF2-40B4-BE49-F238E27FC236}">
                    <a16:creationId xmlns:a16="http://schemas.microsoft.com/office/drawing/2014/main" id="{6C6DEF36-EF67-4125-168E-2E3EB4C995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3178301" y="1435827"/>
                <a:ext cx="1596204" cy="294400"/>
              </a:xfrm>
              <a:prstGeom prst="rect">
                <a:avLst/>
              </a:prstGeom>
            </p:spPr>
          </p:pic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108F364-D8C2-E63C-07D7-663F6C0B48EF}"/>
                </a:ext>
              </a:extLst>
            </p:cNvPr>
            <p:cNvSpPr txBox="1"/>
            <p:nvPr/>
          </p:nvSpPr>
          <p:spPr>
            <a:xfrm>
              <a:off x="5656057" y="973014"/>
              <a:ext cx="108982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10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Port: 8000 </a:t>
              </a:r>
              <a:endPara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41" name="그래픽 140">
              <a:extLst>
                <a:ext uri="{FF2B5EF4-FFF2-40B4-BE49-F238E27FC236}">
                  <a16:creationId xmlns:a16="http://schemas.microsoft.com/office/drawing/2014/main" id="{1A0F1002-D929-7254-C3C2-EA552210E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7270625" y="988289"/>
              <a:ext cx="798491" cy="206011"/>
            </a:xfrm>
            <a:prstGeom prst="rect">
              <a:avLst/>
            </a:prstGeom>
          </p:spPr>
        </p:pic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17D6DA82-72D3-A5D8-0830-DB7471814CA6}"/>
              </a:ext>
            </a:extLst>
          </p:cNvPr>
          <p:cNvSpPr txBox="1"/>
          <p:nvPr/>
        </p:nvSpPr>
        <p:spPr>
          <a:xfrm>
            <a:off x="9067935" y="92550"/>
            <a:ext cx="2480869" cy="6309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DataBase</a:t>
            </a:r>
          </a:p>
          <a:p>
            <a:r>
              <a:rPr lang="en-US" altLang="ko-KR" sz="1050" dirty="0"/>
              <a:t>- NeonDB </a:t>
            </a:r>
            <a:r>
              <a:rPr lang="ko-KR" altLang="en-US" sz="1050" dirty="0"/>
              <a:t>서비스</a:t>
            </a:r>
            <a:r>
              <a:rPr lang="en-US" altLang="ko-KR" sz="1050" dirty="0"/>
              <a:t>(PostgreSQL)</a:t>
            </a:r>
          </a:p>
          <a:p>
            <a:r>
              <a:rPr lang="en-US" altLang="ko-KR" sz="1050" dirty="0"/>
              <a:t>- AWS US East 1 (N. Virginia)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34211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131</Words>
  <Application>Microsoft Office PowerPoint</Application>
  <PresentationFormat>와이드스크린</PresentationFormat>
  <Paragraphs>28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민규 한</dc:creator>
  <cp:lastModifiedBy>민규 한</cp:lastModifiedBy>
  <cp:revision>18</cp:revision>
  <dcterms:created xsi:type="dcterms:W3CDTF">2026-02-21T05:24:19Z</dcterms:created>
  <dcterms:modified xsi:type="dcterms:W3CDTF">2026-02-21T06:17:32Z</dcterms:modified>
</cp:coreProperties>
</file>